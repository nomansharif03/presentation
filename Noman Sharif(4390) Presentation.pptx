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57" r:id="rId4"/>
    <p:sldId id="258" r:id="rId5"/>
    <p:sldId id="260"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660"/>
  </p:normalViewPr>
  <p:slideViewPr>
    <p:cSldViewPr snapToGrid="0" showGuides="1">
      <p:cViewPr varScale="1">
        <p:scale>
          <a:sx n="85" d="100"/>
          <a:sy n="85" d="100"/>
        </p:scale>
        <p:origin x="96"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12/27/2022</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12/27/2022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12/27/2022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12/27/2022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12/27/2022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12/27/2022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12/27/2022</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Noman Sharif(4390)</a:t>
            </a:r>
            <a:br>
              <a:rPr lang="en-US" dirty="0" smtClean="0"/>
            </a:br>
            <a:r>
              <a:rPr lang="en-US" dirty="0" smtClean="0"/>
              <a:t>BA Boot Camp Intern</a:t>
            </a:r>
            <a:endParaRPr lang="en-US" dirty="0"/>
          </a:p>
        </p:txBody>
      </p:sp>
    </p:spTree>
    <p:extLst>
      <p:ext uri="{BB962C8B-B14F-4D97-AF65-F5344CB8AC3E}">
        <p14:creationId xmlns:p14="http://schemas.microsoft.com/office/powerpoint/2010/main" val="37515939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Outlines</a:t>
            </a:r>
            <a:endParaRPr lang="en-US" dirty="0"/>
          </a:p>
        </p:txBody>
      </p:sp>
      <p:sp>
        <p:nvSpPr>
          <p:cNvPr id="3" name="Content Placeholder 2"/>
          <p:cNvSpPr>
            <a:spLocks noGrp="1"/>
          </p:cNvSpPr>
          <p:nvPr>
            <p:ph idx="1"/>
          </p:nvPr>
        </p:nvSpPr>
        <p:spPr/>
        <p:txBody>
          <a:bodyPr>
            <a:normAutofit lnSpcReduction="10000"/>
          </a:bodyPr>
          <a:lstStyle/>
          <a:p>
            <a:r>
              <a:rPr lang="en-US" dirty="0" smtClean="0"/>
              <a:t>Formal Definition</a:t>
            </a:r>
          </a:p>
          <a:p>
            <a:r>
              <a:rPr lang="en-US" dirty="0" smtClean="0"/>
              <a:t>Types</a:t>
            </a:r>
          </a:p>
          <a:p>
            <a:r>
              <a:rPr lang="en-US" dirty="0" smtClean="0"/>
              <a:t>History</a:t>
            </a:r>
          </a:p>
          <a:p>
            <a:r>
              <a:rPr lang="en-US" dirty="0" smtClean="0"/>
              <a:t>Laws</a:t>
            </a:r>
          </a:p>
          <a:p>
            <a:r>
              <a:rPr lang="en-US" dirty="0" smtClean="0"/>
              <a:t>Religions</a:t>
            </a:r>
          </a:p>
          <a:p>
            <a:r>
              <a:rPr lang="en-US" dirty="0" smtClean="0"/>
              <a:t>Cases</a:t>
            </a:r>
          </a:p>
          <a:p>
            <a:r>
              <a:rPr lang="en-US" dirty="0" smtClean="0"/>
              <a:t>Conclusion</a:t>
            </a:r>
            <a:endParaRPr lang="en-US" dirty="0"/>
          </a:p>
        </p:txBody>
      </p:sp>
    </p:spTree>
    <p:extLst>
      <p:ext uri="{BB962C8B-B14F-4D97-AF65-F5344CB8AC3E}">
        <p14:creationId xmlns:p14="http://schemas.microsoft.com/office/powerpoint/2010/main" val="35124123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Euthanasia</a:t>
            </a:r>
            <a:endParaRPr lang="en-US" dirty="0"/>
          </a:p>
        </p:txBody>
      </p:sp>
      <p:sp>
        <p:nvSpPr>
          <p:cNvPr id="3" name="Content Placeholder 2"/>
          <p:cNvSpPr>
            <a:spLocks noGrp="1"/>
          </p:cNvSpPr>
          <p:nvPr>
            <p:ph idx="1"/>
          </p:nvPr>
        </p:nvSpPr>
        <p:spPr/>
        <p:txBody>
          <a:bodyPr>
            <a:normAutofit/>
          </a:bodyPr>
          <a:lstStyle/>
          <a:p>
            <a:pPr marL="0" indent="0">
              <a:buNone/>
            </a:pPr>
            <a:r>
              <a:rPr lang="en-US" b="1" dirty="0" smtClean="0"/>
              <a:t>Meaning:</a:t>
            </a:r>
          </a:p>
          <a:p>
            <a:pPr marL="0" indent="0">
              <a:buNone/>
            </a:pPr>
            <a:r>
              <a:rPr lang="en-US" dirty="0" smtClean="0"/>
              <a:t>Greek </a:t>
            </a:r>
            <a:r>
              <a:rPr lang="en-US" dirty="0"/>
              <a:t>Words “Eu” means “Good” </a:t>
            </a:r>
          </a:p>
          <a:p>
            <a:pPr marL="0" indent="0">
              <a:buNone/>
            </a:pPr>
            <a:r>
              <a:rPr lang="en-US" dirty="0"/>
              <a:t>and  “Thanatosis” means “Death</a:t>
            </a:r>
            <a:r>
              <a:rPr lang="en-US" dirty="0" smtClean="0"/>
              <a:t>”.</a:t>
            </a:r>
            <a:endParaRPr lang="en-US" b="1" dirty="0" smtClean="0"/>
          </a:p>
          <a:p>
            <a:pPr marL="0" indent="0">
              <a:buNone/>
            </a:pPr>
            <a:r>
              <a:rPr lang="en-US" b="1" dirty="0" smtClean="0"/>
              <a:t>Formal Definition:</a:t>
            </a:r>
          </a:p>
          <a:p>
            <a:pPr marL="0" indent="0">
              <a:buNone/>
            </a:pPr>
            <a:r>
              <a:rPr lang="en-US" dirty="0" smtClean="0"/>
              <a:t>“The </a:t>
            </a:r>
            <a:r>
              <a:rPr lang="en-US" dirty="0"/>
              <a:t>practice of ending the life </a:t>
            </a:r>
            <a:r>
              <a:rPr lang="en-US" dirty="0" smtClean="0"/>
              <a:t>of</a:t>
            </a:r>
          </a:p>
          <a:p>
            <a:pPr marL="0" indent="0">
              <a:buNone/>
            </a:pPr>
            <a:r>
              <a:rPr lang="en-US" dirty="0" smtClean="0"/>
              <a:t> </a:t>
            </a:r>
            <a:r>
              <a:rPr lang="en-US" dirty="0"/>
              <a:t>a patient to limit the patient's suffering</a:t>
            </a:r>
            <a:r>
              <a:rPr lang="en-US" dirty="0" smtClean="0"/>
              <a:t>.”</a:t>
            </a:r>
            <a:endParaRPr lang="en-US" dirty="0"/>
          </a:p>
        </p:txBody>
      </p:sp>
      <p:pic>
        <p:nvPicPr>
          <p:cNvPr id="4" name="Picture 3"/>
          <p:cNvPicPr>
            <a:picLocks noChangeAspect="1"/>
          </p:cNvPicPr>
          <p:nvPr/>
        </p:nvPicPr>
        <p:blipFill>
          <a:blip r:embed="rId2"/>
          <a:stretch>
            <a:fillRect/>
          </a:stretch>
        </p:blipFill>
        <p:spPr>
          <a:xfrm>
            <a:off x="6657972" y="2607732"/>
            <a:ext cx="4238625" cy="2733675"/>
          </a:xfrm>
          <a:prstGeom prst="rect">
            <a:avLst/>
          </a:prstGeom>
        </p:spPr>
      </p:pic>
    </p:spTree>
    <p:extLst>
      <p:ext uri="{BB962C8B-B14F-4D97-AF65-F5344CB8AC3E}">
        <p14:creationId xmlns:p14="http://schemas.microsoft.com/office/powerpoint/2010/main" val="4260324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a:t>
            </a:r>
            <a:r>
              <a:rPr lang="en-US" dirty="0"/>
              <a:t>Euthanasia</a:t>
            </a:r>
            <a:r>
              <a:rPr lang="en-US" dirty="0" smtClean="0"/>
              <a:t> </a:t>
            </a:r>
            <a:endParaRPr lang="en-US" dirty="0"/>
          </a:p>
        </p:txBody>
      </p:sp>
      <p:sp>
        <p:nvSpPr>
          <p:cNvPr id="3" name="Content Placeholder 2"/>
          <p:cNvSpPr>
            <a:spLocks noGrp="1"/>
          </p:cNvSpPr>
          <p:nvPr>
            <p:ph idx="1"/>
          </p:nvPr>
        </p:nvSpPr>
        <p:spPr/>
        <p:txBody>
          <a:bodyPr>
            <a:normAutofit/>
          </a:bodyPr>
          <a:lstStyle/>
          <a:p>
            <a:r>
              <a:rPr lang="en-US" dirty="0" smtClean="0"/>
              <a:t>Active</a:t>
            </a:r>
          </a:p>
          <a:p>
            <a:r>
              <a:rPr lang="en-US" dirty="0" smtClean="0"/>
              <a:t>Passive</a:t>
            </a:r>
          </a:p>
          <a:p>
            <a:r>
              <a:rPr lang="en-US" dirty="0" smtClean="0"/>
              <a:t>Voluntary</a:t>
            </a:r>
          </a:p>
          <a:p>
            <a:r>
              <a:rPr lang="en-US" dirty="0" smtClean="0"/>
              <a:t>Involuntary</a:t>
            </a:r>
          </a:p>
          <a:p>
            <a:r>
              <a:rPr lang="en-US" dirty="0" smtClean="0"/>
              <a:t>Assisted</a:t>
            </a:r>
          </a:p>
          <a:p>
            <a:r>
              <a:rPr lang="en-US" dirty="0" err="1" smtClean="0"/>
              <a:t>Indirected</a:t>
            </a:r>
            <a:endParaRPr lang="en-US" dirty="0"/>
          </a:p>
        </p:txBody>
      </p:sp>
      <p:pic>
        <p:nvPicPr>
          <p:cNvPr id="4" name="Picture 3"/>
          <p:cNvPicPr>
            <a:picLocks noChangeAspect="1"/>
          </p:cNvPicPr>
          <p:nvPr/>
        </p:nvPicPr>
        <p:blipFill>
          <a:blip r:embed="rId2"/>
          <a:stretch>
            <a:fillRect/>
          </a:stretch>
        </p:blipFill>
        <p:spPr>
          <a:xfrm>
            <a:off x="4628268" y="2505075"/>
            <a:ext cx="1467731" cy="1847850"/>
          </a:xfrm>
          <a:prstGeom prst="rect">
            <a:avLst/>
          </a:prstGeom>
        </p:spPr>
      </p:pic>
      <p:pic>
        <p:nvPicPr>
          <p:cNvPr id="5" name="Picture 4"/>
          <p:cNvPicPr>
            <a:picLocks noChangeAspect="1"/>
          </p:cNvPicPr>
          <p:nvPr/>
        </p:nvPicPr>
        <p:blipFill>
          <a:blip r:embed="rId3"/>
          <a:stretch>
            <a:fillRect/>
          </a:stretch>
        </p:blipFill>
        <p:spPr>
          <a:xfrm>
            <a:off x="6386901" y="2505074"/>
            <a:ext cx="1515321" cy="1847851"/>
          </a:xfrm>
          <a:prstGeom prst="rect">
            <a:avLst/>
          </a:prstGeom>
        </p:spPr>
      </p:pic>
      <p:pic>
        <p:nvPicPr>
          <p:cNvPr id="6" name="Picture 5"/>
          <p:cNvPicPr>
            <a:picLocks noChangeAspect="1"/>
          </p:cNvPicPr>
          <p:nvPr/>
        </p:nvPicPr>
        <p:blipFill>
          <a:blip r:embed="rId4"/>
          <a:stretch>
            <a:fillRect/>
          </a:stretch>
        </p:blipFill>
        <p:spPr>
          <a:xfrm>
            <a:off x="8283436" y="2505074"/>
            <a:ext cx="1526608" cy="1849963"/>
          </a:xfrm>
          <a:prstGeom prst="rect">
            <a:avLst/>
          </a:prstGeom>
        </p:spPr>
      </p:pic>
    </p:spTree>
    <p:extLst>
      <p:ext uri="{BB962C8B-B14F-4D97-AF65-F5344CB8AC3E}">
        <p14:creationId xmlns:p14="http://schemas.microsoft.com/office/powerpoint/2010/main" val="17374383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History</a:t>
            </a:r>
            <a:endParaRPr lang="en-US" dirty="0"/>
          </a:p>
        </p:txBody>
      </p:sp>
      <p:sp>
        <p:nvSpPr>
          <p:cNvPr id="3" name="Content Placeholder 2"/>
          <p:cNvSpPr>
            <a:spLocks noGrp="1"/>
          </p:cNvSpPr>
          <p:nvPr>
            <p:ph idx="1"/>
          </p:nvPr>
        </p:nvSpPr>
        <p:spPr/>
        <p:txBody>
          <a:bodyPr>
            <a:normAutofit lnSpcReduction="10000"/>
          </a:bodyPr>
          <a:lstStyle/>
          <a:p>
            <a:pPr>
              <a:buFont typeface="Arial" panose="020B0604020202020204" pitchFamily="34" charset="0"/>
              <a:buChar char="•"/>
            </a:pPr>
            <a:r>
              <a:rPr lang="en-US" dirty="0" smtClean="0"/>
              <a:t>Euthanasia </a:t>
            </a:r>
            <a:r>
              <a:rPr lang="en-US" dirty="0"/>
              <a:t>started in ancient </a:t>
            </a:r>
            <a:r>
              <a:rPr lang="en-US" dirty="0" smtClean="0"/>
              <a:t>Greece </a:t>
            </a:r>
            <a:r>
              <a:rPr lang="en-US" dirty="0"/>
              <a:t>and Rome </a:t>
            </a:r>
            <a:r>
              <a:rPr lang="en-US" dirty="0" smtClean="0"/>
              <a:t>around </a:t>
            </a:r>
            <a:r>
              <a:rPr lang="en-US" dirty="0"/>
              <a:t>the fifth century </a:t>
            </a:r>
            <a:r>
              <a:rPr lang="en-US" dirty="0" smtClean="0"/>
              <a:t>B.C.</a:t>
            </a:r>
          </a:p>
          <a:p>
            <a:pPr>
              <a:buFont typeface="Arial" panose="020B0604020202020204" pitchFamily="34" charset="0"/>
              <a:buChar char="•"/>
            </a:pPr>
            <a:r>
              <a:rPr lang="en-US" dirty="0" smtClean="0"/>
              <a:t>Hippocratic </a:t>
            </a:r>
            <a:r>
              <a:rPr lang="en-US" dirty="0"/>
              <a:t>Oath: “I will give no deadly </a:t>
            </a:r>
            <a:r>
              <a:rPr lang="en-US" dirty="0" smtClean="0"/>
              <a:t>medicine </a:t>
            </a:r>
            <a:r>
              <a:rPr lang="en-US" dirty="0"/>
              <a:t>to any one if asked, nor suggest any such counsel</a:t>
            </a:r>
            <a:r>
              <a:rPr lang="en-US" dirty="0" smtClean="0"/>
              <a:t>”.</a:t>
            </a:r>
          </a:p>
          <a:p>
            <a:pPr>
              <a:buFont typeface="Arial" panose="020B0604020202020204" pitchFamily="34" charset="0"/>
              <a:buChar char="•"/>
            </a:pPr>
            <a:r>
              <a:rPr lang="en-US" dirty="0" smtClean="0"/>
              <a:t>Slippery Slope Theory: “The </a:t>
            </a:r>
            <a:r>
              <a:rPr lang="en-US" dirty="0"/>
              <a:t>general public </a:t>
            </a:r>
            <a:r>
              <a:rPr lang="en-US" dirty="0" smtClean="0"/>
              <a:t>fear</a:t>
            </a:r>
          </a:p>
          <a:p>
            <a:pPr marL="0" indent="0">
              <a:buNone/>
            </a:pPr>
            <a:r>
              <a:rPr lang="en-US" dirty="0" smtClean="0"/>
              <a:t> </a:t>
            </a:r>
            <a:r>
              <a:rPr lang="en-US" dirty="0"/>
              <a:t>that if active voluntary euthanasia is legalized, </a:t>
            </a:r>
            <a:r>
              <a:rPr lang="en-US" dirty="0" smtClean="0"/>
              <a:t>the</a:t>
            </a:r>
          </a:p>
          <a:p>
            <a:pPr marL="0" indent="0">
              <a:buNone/>
            </a:pPr>
            <a:r>
              <a:rPr lang="en-US" dirty="0" smtClean="0"/>
              <a:t> </a:t>
            </a:r>
            <a:r>
              <a:rPr lang="en-US" dirty="0"/>
              <a:t>strict protocol will be breached by physicians </a:t>
            </a:r>
            <a:r>
              <a:rPr lang="en-US" dirty="0" smtClean="0"/>
              <a:t>across</a:t>
            </a:r>
          </a:p>
          <a:p>
            <a:pPr marL="0" indent="0">
              <a:buNone/>
            </a:pPr>
            <a:r>
              <a:rPr lang="en-US" dirty="0" smtClean="0"/>
              <a:t> </a:t>
            </a:r>
            <a:r>
              <a:rPr lang="en-US" dirty="0"/>
              <a:t>the </a:t>
            </a:r>
            <a:r>
              <a:rPr lang="en-US" dirty="0" smtClean="0"/>
              <a:t>country”</a:t>
            </a:r>
          </a:p>
          <a:p>
            <a:pPr>
              <a:buFont typeface="Arial" panose="020B0604020202020204" pitchFamily="34" charset="0"/>
              <a:buChar char="•"/>
            </a:pPr>
            <a:endParaRPr lang="en-US" dirty="0"/>
          </a:p>
        </p:txBody>
      </p:sp>
      <p:pic>
        <p:nvPicPr>
          <p:cNvPr id="4" name="Picture 3"/>
          <p:cNvPicPr>
            <a:picLocks noChangeAspect="1"/>
          </p:cNvPicPr>
          <p:nvPr/>
        </p:nvPicPr>
        <p:blipFill>
          <a:blip r:embed="rId2"/>
          <a:stretch>
            <a:fillRect/>
          </a:stretch>
        </p:blipFill>
        <p:spPr>
          <a:xfrm>
            <a:off x="9062152" y="3591277"/>
            <a:ext cx="1834445" cy="2155473"/>
          </a:xfrm>
          <a:prstGeom prst="rect">
            <a:avLst/>
          </a:prstGeom>
        </p:spPr>
      </p:pic>
    </p:spTree>
    <p:extLst>
      <p:ext uri="{BB962C8B-B14F-4D97-AF65-F5344CB8AC3E}">
        <p14:creationId xmlns:p14="http://schemas.microsoft.com/office/powerpoint/2010/main" val="1182297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5067" y="733778"/>
            <a:ext cx="10780889" cy="3508653"/>
          </a:xfrm>
          <a:prstGeom prst="rect">
            <a:avLst/>
          </a:prstGeom>
        </p:spPr>
        <p:txBody>
          <a:bodyPr wrap="square">
            <a:spAutoFit/>
          </a:bodyPr>
          <a:lstStyle/>
          <a:p>
            <a:pPr marL="285750" indent="-285750">
              <a:buFont typeface="Arial" panose="020B0604020202020204" pitchFamily="34" charset="0"/>
              <a:buChar char="•"/>
            </a:pPr>
            <a:endParaRPr lang="en-US" sz="2400"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150030847"/>
              </p:ext>
            </p:extLst>
          </p:nvPr>
        </p:nvGraphicFramePr>
        <p:xfrm>
          <a:off x="632178" y="643467"/>
          <a:ext cx="10893778" cy="5588000"/>
        </p:xfrm>
        <a:graphic>
          <a:graphicData uri="http://schemas.openxmlformats.org/drawingml/2006/table">
            <a:tbl>
              <a:tblPr firstRow="1" bandRow="1">
                <a:tableStyleId>{5C22544A-7EE6-4342-B048-85BDC9FD1C3A}</a:tableStyleId>
              </a:tblPr>
              <a:tblGrid>
                <a:gridCol w="5446889"/>
                <a:gridCol w="5446889"/>
              </a:tblGrid>
              <a:tr h="889000">
                <a:tc>
                  <a:txBody>
                    <a:bodyPr/>
                    <a:lstStyle/>
                    <a:p>
                      <a:r>
                        <a:rPr lang="en-US" sz="2000" dirty="0" smtClean="0"/>
                        <a:t>During the Middle Ages</a:t>
                      </a:r>
                      <a:endParaRPr lang="en-US" sz="2000" dirty="0"/>
                    </a:p>
                  </a:txBody>
                  <a:tcPr>
                    <a:solidFill>
                      <a:schemeClr val="bg1">
                        <a:lumMod val="50000"/>
                      </a:schemeClr>
                    </a:solidFill>
                  </a:tcPr>
                </a:tc>
                <a:tc>
                  <a:txBody>
                    <a:bodyPr/>
                    <a:lstStyle/>
                    <a:p>
                      <a:r>
                        <a:rPr lang="en-US" sz="2000" dirty="0" smtClean="0"/>
                        <a:t>Euthanasia was pretty much out of the question</a:t>
                      </a:r>
                      <a:endParaRPr lang="en-US" sz="2000" dirty="0"/>
                    </a:p>
                  </a:txBody>
                  <a:tcPr>
                    <a:solidFill>
                      <a:schemeClr val="bg1">
                        <a:lumMod val="50000"/>
                      </a:schemeClr>
                    </a:solidFill>
                  </a:tcPr>
                </a:tc>
              </a:tr>
              <a:tr h="1270000">
                <a:tc>
                  <a:txBody>
                    <a:bodyPr/>
                    <a:lstStyle/>
                    <a:p>
                      <a:r>
                        <a:rPr lang="en-US" sz="2000" dirty="0" smtClean="0"/>
                        <a:t>During the Seventeenth and Eighteenth centuries</a:t>
                      </a:r>
                      <a:endParaRPr lang="en-US" sz="2000" dirty="0"/>
                    </a:p>
                  </a:txBody>
                  <a:tcPr>
                    <a:solidFill>
                      <a:schemeClr val="bg1">
                        <a:lumMod val="75000"/>
                      </a:schemeClr>
                    </a:solidFill>
                  </a:tcPr>
                </a:tc>
                <a:tc>
                  <a:txBody>
                    <a:bodyPr/>
                    <a:lstStyle/>
                    <a:p>
                      <a:r>
                        <a:rPr lang="en-US" sz="2000" dirty="0" smtClean="0"/>
                        <a:t>Euthanasia was a topic of discussion. However, people continued to reject euthanasia and assisted suicide.</a:t>
                      </a:r>
                      <a:endParaRPr lang="en-US" sz="2000" dirty="0"/>
                    </a:p>
                  </a:txBody>
                  <a:tcPr>
                    <a:solidFill>
                      <a:schemeClr val="bg1">
                        <a:lumMod val="75000"/>
                      </a:schemeClr>
                    </a:solidFill>
                  </a:tcPr>
                </a:tc>
              </a:tr>
              <a:tr h="2032000">
                <a:tc>
                  <a:txBody>
                    <a:bodyPr/>
                    <a:lstStyle/>
                    <a:p>
                      <a:r>
                        <a:rPr lang="en-US" sz="2000" dirty="0" smtClean="0"/>
                        <a:t>1478-1535</a:t>
                      </a:r>
                      <a:endParaRPr lang="en-US" sz="2000" dirty="0"/>
                    </a:p>
                  </a:txBody>
                  <a:tcPr>
                    <a:solidFill>
                      <a:schemeClr val="bg1">
                        <a:lumMod val="50000"/>
                      </a:schemeClr>
                    </a:solidFill>
                  </a:tcPr>
                </a:tc>
                <a:tc>
                  <a:txBody>
                    <a:bodyPr/>
                    <a:lstStyle/>
                    <a:p>
                      <a:r>
                        <a:rPr lang="en-US" sz="2000" dirty="0" smtClean="0"/>
                        <a:t>Sir Thomas More the first prominent Christian to recommend euthanasia in his book Utopia, where the Utopian priests encourage euthanasia when a patient was terminally ill and suffering pain</a:t>
                      </a:r>
                      <a:endParaRPr lang="en-US" sz="2000" dirty="0"/>
                    </a:p>
                  </a:txBody>
                  <a:tcPr>
                    <a:solidFill>
                      <a:schemeClr val="bg1">
                        <a:lumMod val="50000"/>
                      </a:schemeClr>
                    </a:solidFill>
                  </a:tcPr>
                </a:tc>
              </a:tr>
              <a:tr h="889000">
                <a:tc>
                  <a:txBody>
                    <a:bodyPr/>
                    <a:lstStyle/>
                    <a:p>
                      <a:r>
                        <a:rPr lang="en-US" sz="2000" dirty="0" smtClean="0"/>
                        <a:t>1828</a:t>
                      </a:r>
                      <a:endParaRPr lang="en-US" sz="2000" dirty="0"/>
                    </a:p>
                  </a:txBody>
                  <a:tcPr>
                    <a:solidFill>
                      <a:schemeClr val="bg1">
                        <a:lumMod val="75000"/>
                      </a:schemeClr>
                    </a:solidFill>
                  </a:tcPr>
                </a:tc>
                <a:tc>
                  <a:txBody>
                    <a:bodyPr/>
                    <a:lstStyle/>
                    <a:p>
                      <a:r>
                        <a:rPr lang="en-US" sz="2000" dirty="0" smtClean="0"/>
                        <a:t>The first law against assisted killing, known as anti-euthanasia was passed in new </a:t>
                      </a:r>
                      <a:r>
                        <a:rPr lang="en-US" sz="2000" dirty="0" err="1" smtClean="0"/>
                        <a:t>york</a:t>
                      </a:r>
                      <a:r>
                        <a:rPr lang="en-US" sz="2000" dirty="0" smtClean="0"/>
                        <a:t>.</a:t>
                      </a:r>
                      <a:endParaRPr lang="en-US" sz="2000" dirty="0"/>
                    </a:p>
                  </a:txBody>
                  <a:tcPr>
                    <a:solidFill>
                      <a:schemeClr val="bg1">
                        <a:lumMod val="75000"/>
                      </a:schemeClr>
                    </a:solidFill>
                  </a:tcPr>
                </a:tc>
              </a:tr>
              <a:tr h="508000">
                <a:tc>
                  <a:txBody>
                    <a:bodyPr/>
                    <a:lstStyle/>
                    <a:p>
                      <a:endParaRPr lang="en-US" dirty="0"/>
                    </a:p>
                  </a:txBody>
                  <a:tcPr/>
                </a:tc>
                <a:tc>
                  <a:txBody>
                    <a:bodyPr/>
                    <a:lstStyle/>
                    <a:p>
                      <a:endParaRPr lang="en-US" dirty="0"/>
                    </a:p>
                  </a:txBody>
                  <a:tcPr/>
                </a:tc>
              </a:tr>
            </a:tbl>
          </a:graphicData>
        </a:graphic>
      </p:graphicFrame>
    </p:spTree>
    <p:extLst>
      <p:ext uri="{BB962C8B-B14F-4D97-AF65-F5344CB8AC3E}">
        <p14:creationId xmlns:p14="http://schemas.microsoft.com/office/powerpoint/2010/main" val="432291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57638900"/>
              </p:ext>
            </p:extLst>
          </p:nvPr>
        </p:nvGraphicFramePr>
        <p:xfrm>
          <a:off x="632174" y="632176"/>
          <a:ext cx="10938936" cy="5621867"/>
        </p:xfrm>
        <a:graphic>
          <a:graphicData uri="http://schemas.openxmlformats.org/drawingml/2006/table">
            <a:tbl>
              <a:tblPr firstRow="1" bandRow="1">
                <a:tableStyleId>{5C22544A-7EE6-4342-B048-85BDC9FD1C3A}</a:tableStyleId>
              </a:tblPr>
              <a:tblGrid>
                <a:gridCol w="5469468"/>
                <a:gridCol w="5469468"/>
              </a:tblGrid>
              <a:tr h="1439136">
                <a:tc>
                  <a:txBody>
                    <a:bodyPr/>
                    <a:lstStyle/>
                    <a:p>
                      <a:r>
                        <a:rPr lang="en-US" sz="2000" dirty="0" smtClean="0"/>
                        <a:t>1870</a:t>
                      </a:r>
                      <a:endParaRPr lang="en-US" sz="2000" dirty="0"/>
                    </a:p>
                  </a:txBody>
                  <a:tcPr>
                    <a:solidFill>
                      <a:schemeClr val="bg1">
                        <a:lumMod val="50000"/>
                      </a:schemeClr>
                    </a:solidFill>
                  </a:tcPr>
                </a:tc>
                <a:tc>
                  <a:txBody>
                    <a:bodyPr/>
                    <a:lstStyle/>
                    <a:p>
                      <a:r>
                        <a:rPr lang="en-US" sz="2000" dirty="0" smtClean="0"/>
                        <a:t>The use of morphine and analgesic medications for assisting quick and painless death was suggested.</a:t>
                      </a:r>
                      <a:endParaRPr lang="en-US" sz="2000" dirty="0"/>
                    </a:p>
                  </a:txBody>
                  <a:tcPr>
                    <a:solidFill>
                      <a:schemeClr val="bg1">
                        <a:lumMod val="50000"/>
                      </a:schemeClr>
                    </a:solidFill>
                  </a:tcPr>
                </a:tc>
              </a:tr>
              <a:tr h="1007396">
                <a:tc>
                  <a:txBody>
                    <a:bodyPr/>
                    <a:lstStyle/>
                    <a:p>
                      <a:r>
                        <a:rPr lang="en-US" sz="2000" dirty="0" smtClean="0"/>
                        <a:t>1885</a:t>
                      </a:r>
                      <a:endParaRPr lang="en-US" sz="2000" dirty="0"/>
                    </a:p>
                  </a:txBody>
                  <a:tcPr>
                    <a:solidFill>
                      <a:schemeClr val="bg1">
                        <a:lumMod val="75000"/>
                      </a:schemeClr>
                    </a:solidFill>
                  </a:tcPr>
                </a:tc>
                <a:tc>
                  <a:txBody>
                    <a:bodyPr/>
                    <a:lstStyle/>
                    <a:p>
                      <a:r>
                        <a:rPr lang="en-US" sz="2000" dirty="0" smtClean="0"/>
                        <a:t>The American Medical Association strongly denied the use of analgesic for euthanasia.</a:t>
                      </a:r>
                      <a:endParaRPr lang="en-US" sz="2000" dirty="0"/>
                    </a:p>
                  </a:txBody>
                  <a:tcPr>
                    <a:solidFill>
                      <a:schemeClr val="bg1">
                        <a:lumMod val="75000"/>
                      </a:schemeClr>
                    </a:solidFill>
                  </a:tcPr>
                </a:tc>
              </a:tr>
              <a:tr h="1007396">
                <a:tc>
                  <a:txBody>
                    <a:bodyPr/>
                    <a:lstStyle/>
                    <a:p>
                      <a:r>
                        <a:rPr lang="en-US" sz="2000" dirty="0" smtClean="0"/>
                        <a:t>1994</a:t>
                      </a:r>
                      <a:endParaRPr lang="en-US" sz="2000" dirty="0"/>
                    </a:p>
                  </a:txBody>
                  <a:tcPr>
                    <a:solidFill>
                      <a:schemeClr val="bg1">
                        <a:lumMod val="50000"/>
                      </a:schemeClr>
                    </a:solidFill>
                  </a:tcPr>
                </a:tc>
                <a:tc>
                  <a:txBody>
                    <a:bodyPr/>
                    <a:lstStyle/>
                    <a:p>
                      <a:r>
                        <a:rPr lang="en-US" sz="2000" dirty="0" smtClean="0"/>
                        <a:t>Netherlands it is the first country where euthanasia has been allowed.</a:t>
                      </a:r>
                      <a:endParaRPr lang="en-US" sz="2000" dirty="0"/>
                    </a:p>
                  </a:txBody>
                  <a:tcPr>
                    <a:solidFill>
                      <a:schemeClr val="bg1">
                        <a:lumMod val="50000"/>
                      </a:schemeClr>
                    </a:solidFill>
                  </a:tcPr>
                </a:tc>
              </a:tr>
              <a:tr h="1160543">
                <a:tc>
                  <a:txBody>
                    <a:bodyPr/>
                    <a:lstStyle/>
                    <a:p>
                      <a:r>
                        <a:rPr lang="en-US" sz="2000" dirty="0" smtClean="0"/>
                        <a:t>2001</a:t>
                      </a:r>
                      <a:endParaRPr lang="en-US" sz="2000" dirty="0"/>
                    </a:p>
                  </a:txBody>
                  <a:tcPr>
                    <a:solidFill>
                      <a:schemeClr val="bg1">
                        <a:lumMod val="75000"/>
                      </a:schemeClr>
                    </a:solidFill>
                  </a:tcPr>
                </a:tc>
                <a:tc>
                  <a:txBody>
                    <a:bodyPr/>
                    <a:lstStyle/>
                    <a:p>
                      <a:r>
                        <a:rPr lang="en-US" sz="2000" dirty="0" smtClean="0"/>
                        <a:t>The euthanasia law was adopted in Belgium - this law defines conditions for doctors to avoid penal punishment.</a:t>
                      </a:r>
                      <a:endParaRPr lang="en-US" sz="2000" dirty="0"/>
                    </a:p>
                  </a:txBody>
                  <a:tcPr>
                    <a:solidFill>
                      <a:schemeClr val="bg1">
                        <a:lumMod val="75000"/>
                      </a:schemeClr>
                    </a:solidFill>
                  </a:tcPr>
                </a:tc>
              </a:tr>
              <a:tr h="1007396">
                <a:tc>
                  <a:txBody>
                    <a:bodyPr/>
                    <a:lstStyle/>
                    <a:p>
                      <a:r>
                        <a:rPr lang="en-US" sz="2000" dirty="0" smtClean="0"/>
                        <a:t>2008</a:t>
                      </a:r>
                      <a:endParaRPr lang="en-US" sz="2000" dirty="0"/>
                    </a:p>
                  </a:txBody>
                  <a:tcPr>
                    <a:solidFill>
                      <a:schemeClr val="bg1">
                        <a:lumMod val="50000"/>
                      </a:schemeClr>
                    </a:solidFill>
                  </a:tcPr>
                </a:tc>
                <a:tc>
                  <a:txBody>
                    <a:bodyPr/>
                    <a:lstStyle/>
                    <a:p>
                      <a:r>
                        <a:rPr lang="en-US" sz="2000" dirty="0" smtClean="0"/>
                        <a:t>U.S. state of Washington legalizes assisted suicide</a:t>
                      </a:r>
                      <a:endParaRPr lang="en-US" sz="2000" dirty="0"/>
                    </a:p>
                  </a:txBody>
                  <a:tcPr>
                    <a:solidFill>
                      <a:schemeClr val="bg1">
                        <a:lumMod val="50000"/>
                      </a:schemeClr>
                    </a:solidFill>
                  </a:tcPr>
                </a:tc>
              </a:tr>
            </a:tbl>
          </a:graphicData>
        </a:graphic>
      </p:graphicFrame>
    </p:spTree>
    <p:extLst>
      <p:ext uri="{BB962C8B-B14F-4D97-AF65-F5344CB8AC3E}">
        <p14:creationId xmlns:p14="http://schemas.microsoft.com/office/powerpoint/2010/main" val="1506830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Laws</a:t>
            </a:r>
            <a:endParaRPr lang="en-US" dirty="0"/>
          </a:p>
        </p:txBody>
      </p:sp>
      <p:sp>
        <p:nvSpPr>
          <p:cNvPr id="3" name="Content Placeholder 2"/>
          <p:cNvSpPr>
            <a:spLocks noGrp="1"/>
          </p:cNvSpPr>
          <p:nvPr>
            <p:ph idx="1"/>
          </p:nvPr>
        </p:nvSpPr>
        <p:spPr/>
        <p:txBody>
          <a:bodyPr>
            <a:normAutofit/>
          </a:bodyPr>
          <a:lstStyle/>
          <a:p>
            <a:r>
              <a:rPr lang="en-US" dirty="0"/>
              <a:t>In </a:t>
            </a:r>
            <a:r>
              <a:rPr lang="en-US" dirty="0">
                <a:solidFill>
                  <a:srgbClr val="00B0F0"/>
                </a:solidFill>
              </a:rPr>
              <a:t>Europe</a:t>
            </a:r>
            <a:r>
              <a:rPr lang="en-US" dirty="0"/>
              <a:t>, Euthanasia is only legal in the </a:t>
            </a:r>
            <a:r>
              <a:rPr lang="en-US" dirty="0">
                <a:solidFill>
                  <a:srgbClr val="00B0F0"/>
                </a:solidFill>
              </a:rPr>
              <a:t>Netherlands</a:t>
            </a:r>
            <a:r>
              <a:rPr lang="en-US" dirty="0"/>
              <a:t> and </a:t>
            </a:r>
            <a:r>
              <a:rPr lang="en-US" dirty="0">
                <a:solidFill>
                  <a:srgbClr val="00B0F0"/>
                </a:solidFill>
              </a:rPr>
              <a:t>Belgium</a:t>
            </a:r>
            <a:r>
              <a:rPr lang="en-US" dirty="0"/>
              <a:t>, provided certain conditions are met</a:t>
            </a:r>
            <a:r>
              <a:rPr lang="en-US" dirty="0" smtClean="0"/>
              <a:t>.</a:t>
            </a:r>
          </a:p>
          <a:p>
            <a:r>
              <a:rPr lang="en-US" dirty="0"/>
              <a:t>In Belgium euthanasia is only allowed if the patient is an adult</a:t>
            </a:r>
            <a:r>
              <a:rPr lang="en-US" dirty="0" smtClean="0"/>
              <a:t>.</a:t>
            </a:r>
          </a:p>
          <a:p>
            <a:r>
              <a:rPr lang="en-US" dirty="0"/>
              <a:t>However, in the Netherlands euthanasia is allowed for children aged between 12 and 16 years of age, with the consent of their parents/guardians and for individuals aged 16 years and over</a:t>
            </a:r>
            <a:r>
              <a:rPr lang="en-US" dirty="0" smtClean="0"/>
              <a:t>.</a:t>
            </a:r>
          </a:p>
        </p:txBody>
      </p:sp>
    </p:spTree>
    <p:extLst>
      <p:ext uri="{BB962C8B-B14F-4D97-AF65-F5344CB8AC3E}">
        <p14:creationId xmlns:p14="http://schemas.microsoft.com/office/powerpoint/2010/main" val="2519654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20889" y="598311"/>
            <a:ext cx="8523111" cy="3693319"/>
          </a:xfrm>
          <a:prstGeom prst="rect">
            <a:avLst/>
          </a:prstGeom>
        </p:spPr>
        <p:txBody>
          <a:bodyPr wrap="square">
            <a:spAutoFit/>
          </a:bodyPr>
          <a:lstStyle/>
          <a:p>
            <a:pPr marL="285750" indent="-285750">
              <a:buFont typeface="Arial" panose="020B0604020202020204" pitchFamily="34" charset="0"/>
              <a:buChar char="•"/>
            </a:pPr>
            <a:r>
              <a:rPr lang="en-US" dirty="0"/>
              <a:t>In </a:t>
            </a:r>
            <a:r>
              <a:rPr lang="en-US" dirty="0">
                <a:solidFill>
                  <a:srgbClr val="00B0F0"/>
                </a:solidFill>
              </a:rPr>
              <a:t>Japan</a:t>
            </a:r>
            <a:r>
              <a:rPr lang="en-US" dirty="0"/>
              <a:t> : Only " passive " euthanasia is </a:t>
            </a:r>
            <a:endParaRPr lang="en-US" dirty="0" smtClean="0"/>
          </a:p>
          <a:p>
            <a:r>
              <a:rPr lang="en-US" dirty="0" smtClean="0"/>
              <a:t>permitted </a:t>
            </a:r>
            <a:r>
              <a:rPr lang="en-US" dirty="0"/>
              <a:t>for patients who have been in </a:t>
            </a:r>
            <a:r>
              <a:rPr lang="en-US" dirty="0" smtClean="0"/>
              <a:t>a </a:t>
            </a:r>
          </a:p>
          <a:p>
            <a:r>
              <a:rPr lang="en-US" dirty="0" smtClean="0"/>
              <a:t>Coma </a:t>
            </a:r>
            <a:r>
              <a:rPr lang="en-US" dirty="0"/>
              <a:t>for more than 3 months </a:t>
            </a:r>
            <a:endParaRPr lang="en-US" dirty="0" smtClean="0"/>
          </a:p>
          <a:p>
            <a:pPr marL="285750" indent="-285750">
              <a:buFont typeface="Arial" panose="020B0604020202020204" pitchFamily="34" charset="0"/>
              <a:buChar char="•"/>
            </a:pPr>
            <a:r>
              <a:rPr lang="en-US" dirty="0" smtClean="0"/>
              <a:t>While </a:t>
            </a:r>
            <a:r>
              <a:rPr lang="en-US" dirty="0"/>
              <a:t>in </a:t>
            </a:r>
            <a:r>
              <a:rPr lang="en-US" dirty="0">
                <a:solidFill>
                  <a:srgbClr val="00B0F0"/>
                </a:solidFill>
              </a:rPr>
              <a:t>Egypt</a:t>
            </a:r>
            <a:r>
              <a:rPr lang="en-US" dirty="0"/>
              <a:t> , or in Islamic countries </a:t>
            </a:r>
            <a:endParaRPr lang="en-US" dirty="0" smtClean="0"/>
          </a:p>
          <a:p>
            <a:r>
              <a:rPr lang="en-US" dirty="0" smtClean="0"/>
              <a:t>in </a:t>
            </a:r>
            <a:r>
              <a:rPr lang="en-US" dirty="0"/>
              <a:t>general , the popular Egyptians' Scholar </a:t>
            </a:r>
            <a:endParaRPr lang="en-US" dirty="0" smtClean="0"/>
          </a:p>
          <a:p>
            <a:r>
              <a:rPr lang="en-US" dirty="0" smtClean="0"/>
              <a:t>Sheikh </a:t>
            </a:r>
            <a:r>
              <a:rPr lang="en-US" dirty="0"/>
              <a:t>, recently issued a fatwa . </a:t>
            </a:r>
            <a:r>
              <a:rPr lang="en-US" dirty="0" smtClean="0"/>
              <a:t>Equating</a:t>
            </a:r>
          </a:p>
          <a:p>
            <a:r>
              <a:rPr lang="en-US" dirty="0" smtClean="0"/>
              <a:t> </a:t>
            </a:r>
            <a:r>
              <a:rPr lang="en-US" dirty="0"/>
              <a:t>euthanasia with murder but allowing the </a:t>
            </a:r>
            <a:endParaRPr lang="en-US" dirty="0" smtClean="0"/>
          </a:p>
          <a:p>
            <a:r>
              <a:rPr lang="en-US" dirty="0" smtClean="0"/>
              <a:t>with-holding </a:t>
            </a:r>
            <a:r>
              <a:rPr lang="en-US" dirty="0"/>
              <a:t>of treatment that is </a:t>
            </a:r>
            <a:r>
              <a:rPr lang="en-US" dirty="0" smtClean="0"/>
              <a:t>deemed</a:t>
            </a:r>
          </a:p>
          <a:p>
            <a:r>
              <a:rPr lang="en-US" dirty="0" smtClean="0"/>
              <a:t> </a:t>
            </a:r>
            <a:r>
              <a:rPr lang="en-US" dirty="0"/>
              <a:t>useless</a:t>
            </a:r>
            <a:r>
              <a:rPr lang="en-US" dirty="0" smtClean="0"/>
              <a:t>.</a:t>
            </a:r>
          </a:p>
          <a:p>
            <a:endParaRPr lang="en-US" dirty="0"/>
          </a:p>
          <a:p>
            <a:endParaRPr lang="en-US" dirty="0" smtClean="0"/>
          </a:p>
          <a:p>
            <a:endParaRPr lang="en-US" dirty="0"/>
          </a:p>
          <a:p>
            <a:endParaRPr lang="en-US" dirty="0"/>
          </a:p>
        </p:txBody>
      </p:sp>
      <p:pic>
        <p:nvPicPr>
          <p:cNvPr id="3" name="Picture 2"/>
          <p:cNvPicPr>
            <a:picLocks noChangeAspect="1"/>
          </p:cNvPicPr>
          <p:nvPr/>
        </p:nvPicPr>
        <p:blipFill>
          <a:blip r:embed="rId2"/>
          <a:stretch>
            <a:fillRect/>
          </a:stretch>
        </p:blipFill>
        <p:spPr>
          <a:xfrm>
            <a:off x="4735972" y="722491"/>
            <a:ext cx="6812031" cy="5127448"/>
          </a:xfrm>
          <a:prstGeom prst="rect">
            <a:avLst/>
          </a:prstGeom>
        </p:spPr>
      </p:pic>
    </p:spTree>
    <p:extLst>
      <p:ext uri="{BB962C8B-B14F-4D97-AF65-F5344CB8AC3E}">
        <p14:creationId xmlns:p14="http://schemas.microsoft.com/office/powerpoint/2010/main" val="226472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Religion</a:t>
            </a:r>
            <a:endParaRPr lang="en-US" dirty="0"/>
          </a:p>
        </p:txBody>
      </p:sp>
      <p:sp>
        <p:nvSpPr>
          <p:cNvPr id="3" name="Content Placeholder 2"/>
          <p:cNvSpPr>
            <a:spLocks noGrp="1"/>
          </p:cNvSpPr>
          <p:nvPr>
            <p:ph idx="1"/>
          </p:nvPr>
        </p:nvSpPr>
        <p:spPr/>
        <p:txBody>
          <a:bodyPr/>
          <a:lstStyle/>
          <a:p>
            <a:pPr marL="0" indent="0">
              <a:buNone/>
            </a:pPr>
            <a:r>
              <a:rPr lang="en-US" dirty="0"/>
              <a:t>Most religions disapprove of euthanasia for a number of reasons: </a:t>
            </a:r>
            <a:endParaRPr lang="en-US" dirty="0" smtClean="0"/>
          </a:p>
          <a:p>
            <a:r>
              <a:rPr lang="en-US" dirty="0" smtClean="0"/>
              <a:t>God </a:t>
            </a:r>
            <a:r>
              <a:rPr lang="en-US" dirty="0"/>
              <a:t>has forbidden it ( that says 'you must not kill</a:t>
            </a:r>
            <a:r>
              <a:rPr lang="en-US" dirty="0" smtClean="0"/>
              <a:t>').</a:t>
            </a:r>
          </a:p>
          <a:p>
            <a:r>
              <a:rPr lang="en-US" dirty="0" smtClean="0"/>
              <a:t>Human </a:t>
            </a:r>
            <a:r>
              <a:rPr lang="en-US" dirty="0"/>
              <a:t>life is sacred. </a:t>
            </a:r>
            <a:endParaRPr lang="en-US" dirty="0" smtClean="0"/>
          </a:p>
          <a:p>
            <a:r>
              <a:rPr lang="en-US" dirty="0" smtClean="0"/>
              <a:t>Human </a:t>
            </a:r>
            <a:r>
              <a:rPr lang="en-US" dirty="0"/>
              <a:t>beings are made in God's </a:t>
            </a:r>
            <a:r>
              <a:rPr lang="en-US" dirty="0" smtClean="0"/>
              <a:t>image.</a:t>
            </a:r>
          </a:p>
          <a:p>
            <a:r>
              <a:rPr lang="en-US" dirty="0" smtClean="0"/>
              <a:t>God </a:t>
            </a:r>
            <a:r>
              <a:rPr lang="en-US" dirty="0"/>
              <a:t>gives people life, so only God has the right to take it away</a:t>
            </a:r>
          </a:p>
        </p:txBody>
      </p:sp>
    </p:spTree>
    <p:extLst>
      <p:ext uri="{BB962C8B-B14F-4D97-AF65-F5344CB8AC3E}">
        <p14:creationId xmlns:p14="http://schemas.microsoft.com/office/powerpoint/2010/main" val="549323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Religious views on </a:t>
            </a:r>
            <a:r>
              <a:rPr lang="en-US" dirty="0" smtClean="0"/>
              <a:t>Euthanasia</a:t>
            </a:r>
            <a:r>
              <a:rPr lang="en-US" dirty="0"/>
              <a:t>:</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smtClean="0">
                <a:solidFill>
                  <a:srgbClr val="00B0F0"/>
                </a:solidFill>
              </a:rPr>
              <a:t>Islam</a:t>
            </a:r>
            <a:r>
              <a:rPr lang="en-US" dirty="0">
                <a:solidFill>
                  <a:srgbClr val="00B0F0"/>
                </a:solidFill>
              </a:rPr>
              <a:t>: </a:t>
            </a:r>
            <a:endParaRPr lang="en-US" dirty="0" smtClean="0">
              <a:solidFill>
                <a:srgbClr val="00B0F0"/>
              </a:solidFill>
            </a:endParaRPr>
          </a:p>
          <a:p>
            <a:pPr>
              <a:buFont typeface="Arial" panose="020B0604020202020204" pitchFamily="34" charset="0"/>
              <a:buChar char="•"/>
            </a:pPr>
            <a:r>
              <a:rPr lang="en-US" dirty="0" smtClean="0"/>
              <a:t>Muslims </a:t>
            </a:r>
            <a:r>
              <a:rPr lang="en-US" dirty="0"/>
              <a:t>are against euthanasia</a:t>
            </a:r>
            <a:r>
              <a:rPr lang="en-US" dirty="0" smtClean="0"/>
              <a:t>.</a:t>
            </a:r>
          </a:p>
          <a:p>
            <a:pPr>
              <a:buFont typeface="Arial" panose="020B0604020202020204" pitchFamily="34" charset="0"/>
              <a:buChar char="•"/>
            </a:pPr>
            <a:r>
              <a:rPr lang="en-US" dirty="0" smtClean="0"/>
              <a:t> </a:t>
            </a:r>
            <a:r>
              <a:rPr lang="en-US" dirty="0"/>
              <a:t>They believe that all human life is sacred because it is given by Allah, and that Allah chooses how long each person will live</a:t>
            </a:r>
            <a:r>
              <a:rPr lang="en-US" dirty="0" smtClean="0"/>
              <a:t>.</a:t>
            </a:r>
          </a:p>
          <a:p>
            <a:r>
              <a:rPr lang="en-US" dirty="0">
                <a:solidFill>
                  <a:srgbClr val="00B0F0"/>
                </a:solidFill>
              </a:rPr>
              <a:t>Shinto: </a:t>
            </a:r>
          </a:p>
          <a:p>
            <a:r>
              <a:rPr lang="en-US" dirty="0"/>
              <a:t>In Japan, where the dominant religion is Shinto, 69% of the religious organizations agree with the act of voluntary passive euthanasia. </a:t>
            </a:r>
          </a:p>
          <a:p>
            <a:r>
              <a:rPr lang="en-US" dirty="0"/>
              <a:t>In Shinto, the prolongation of life using artificial means is a disgraceful act against life.</a:t>
            </a:r>
          </a:p>
          <a:p>
            <a:pPr>
              <a:buFont typeface="Arial" panose="020B0604020202020204" pitchFamily="34" charset="0"/>
              <a:buChar char="•"/>
            </a:pPr>
            <a:endParaRPr lang="en-US" dirty="0" smtClean="0"/>
          </a:p>
          <a:p>
            <a:pPr>
              <a:buFont typeface="Arial" panose="020B0604020202020204" pitchFamily="34" charset="0"/>
              <a:buChar char="•"/>
            </a:pPr>
            <a:endParaRPr lang="en-US" dirty="0"/>
          </a:p>
        </p:txBody>
      </p:sp>
      <p:pic>
        <p:nvPicPr>
          <p:cNvPr id="4" name="Picture 3"/>
          <p:cNvPicPr>
            <a:picLocks noChangeAspect="1"/>
          </p:cNvPicPr>
          <p:nvPr/>
        </p:nvPicPr>
        <p:blipFill>
          <a:blip r:embed="rId2"/>
          <a:stretch>
            <a:fillRect/>
          </a:stretch>
        </p:blipFill>
        <p:spPr>
          <a:xfrm>
            <a:off x="9698566" y="2453922"/>
            <a:ext cx="788812" cy="819151"/>
          </a:xfrm>
          <a:prstGeom prst="rect">
            <a:avLst/>
          </a:prstGeom>
        </p:spPr>
      </p:pic>
      <p:pic>
        <p:nvPicPr>
          <p:cNvPr id="5" name="Picture 4"/>
          <p:cNvPicPr>
            <a:picLocks noChangeAspect="1"/>
          </p:cNvPicPr>
          <p:nvPr/>
        </p:nvPicPr>
        <p:blipFill>
          <a:blip r:embed="rId3"/>
          <a:stretch>
            <a:fillRect/>
          </a:stretch>
        </p:blipFill>
        <p:spPr>
          <a:xfrm>
            <a:off x="9811492" y="3702755"/>
            <a:ext cx="903604" cy="788106"/>
          </a:xfrm>
          <a:prstGeom prst="rect">
            <a:avLst/>
          </a:prstGeom>
        </p:spPr>
      </p:pic>
    </p:spTree>
    <p:extLst>
      <p:ext uri="{BB962C8B-B14F-4D97-AF65-F5344CB8AC3E}">
        <p14:creationId xmlns:p14="http://schemas.microsoft.com/office/powerpoint/2010/main" val="28286476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8311" y="620889"/>
            <a:ext cx="10972800" cy="5632311"/>
          </a:xfrm>
          <a:prstGeom prst="rect">
            <a:avLst/>
          </a:prstGeom>
        </p:spPr>
        <p:txBody>
          <a:bodyPr wrap="square">
            <a:spAutoFit/>
          </a:bodyPr>
          <a:lstStyle/>
          <a:p>
            <a:r>
              <a:rPr lang="en-US" dirty="0">
                <a:solidFill>
                  <a:srgbClr val="00B0F0"/>
                </a:solidFill>
              </a:rPr>
              <a:t>Christianity: </a:t>
            </a:r>
          </a:p>
          <a:p>
            <a:pPr marL="285750" indent="-285750">
              <a:buFont typeface="Arial" panose="020B0604020202020204" pitchFamily="34" charset="0"/>
              <a:buChar char="•"/>
            </a:pPr>
            <a:r>
              <a:rPr lang="en-US" dirty="0"/>
              <a:t>Christians are mostly against euthanasia.</a:t>
            </a:r>
          </a:p>
          <a:p>
            <a:pPr marL="285750" indent="-285750">
              <a:buFont typeface="Arial" panose="020B0604020202020204" pitchFamily="34" charset="0"/>
              <a:buChar char="•"/>
            </a:pPr>
            <a:r>
              <a:rPr lang="en-US" dirty="0"/>
              <a:t>Life is a gift from God Christianity requires us to respect every human being</a:t>
            </a:r>
            <a:r>
              <a:rPr lang="en-US" dirty="0" smtClean="0"/>
              <a:t>.</a:t>
            </a:r>
          </a:p>
          <a:p>
            <a:endParaRPr lang="en-US" dirty="0"/>
          </a:p>
          <a:p>
            <a:r>
              <a:rPr lang="en-US" b="1" dirty="0" smtClean="0"/>
              <a:t>While </a:t>
            </a:r>
          </a:p>
          <a:p>
            <a:endParaRPr lang="en-US" b="1" dirty="0" smtClean="0"/>
          </a:p>
          <a:p>
            <a:r>
              <a:rPr lang="en-US" dirty="0" smtClean="0">
                <a:solidFill>
                  <a:srgbClr val="00B0F0"/>
                </a:solidFill>
              </a:rPr>
              <a:t>Judaism and </a:t>
            </a:r>
            <a:r>
              <a:rPr lang="en-US" dirty="0">
                <a:solidFill>
                  <a:srgbClr val="00B0F0"/>
                </a:solidFill>
              </a:rPr>
              <a:t>Buddhism: </a:t>
            </a:r>
            <a:r>
              <a:rPr lang="en-US" dirty="0" smtClean="0">
                <a:solidFill>
                  <a:srgbClr val="00B0F0"/>
                </a:solidFill>
              </a:rPr>
              <a:t> </a:t>
            </a:r>
          </a:p>
          <a:p>
            <a:endParaRPr lang="en-US" dirty="0" smtClean="0"/>
          </a:p>
          <a:p>
            <a:pPr marL="285750" indent="-285750">
              <a:buFont typeface="Arial" panose="020B0604020202020204" pitchFamily="34" charset="0"/>
              <a:buChar char="•"/>
            </a:pPr>
            <a:r>
              <a:rPr lang="en-US" dirty="0" smtClean="0"/>
              <a:t>Generally</a:t>
            </a:r>
            <a:r>
              <a:rPr lang="en-US" dirty="0"/>
              <a:t>, Jewish thinkers oppose voluntary euthanasia, often vigorously, though there is some backing for voluntary passive euthanasia in limited circumstances</a:t>
            </a:r>
            <a:r>
              <a:rPr lang="en-US" dirty="0" smtClean="0"/>
              <a:t>.</a:t>
            </a:r>
          </a:p>
          <a:p>
            <a:endParaRPr lang="en-US" dirty="0" smtClean="0"/>
          </a:p>
          <a:p>
            <a:r>
              <a:rPr lang="en-US" dirty="0" smtClean="0"/>
              <a:t>•    An </a:t>
            </a:r>
            <a:r>
              <a:rPr lang="en-US" dirty="0"/>
              <a:t>important value of Buddhism teaching is compassion. Compassion is used by some Buddhists as a </a:t>
            </a:r>
            <a:r>
              <a:rPr lang="en-US" dirty="0" smtClean="0"/>
              <a:t>justification </a:t>
            </a:r>
            <a:r>
              <a:rPr lang="en-US" dirty="0"/>
              <a:t>for </a:t>
            </a:r>
            <a:r>
              <a:rPr lang="en-US" dirty="0" smtClean="0"/>
              <a:t>           euthanasia </a:t>
            </a:r>
            <a:r>
              <a:rPr lang="en-US" dirty="0"/>
              <a:t>because the person suffering is relieved of pain</a:t>
            </a:r>
            <a:r>
              <a:rPr lang="en-US" dirty="0" smtClean="0"/>
              <a:t>.</a:t>
            </a:r>
          </a:p>
          <a:p>
            <a:endParaRPr lang="en-US" dirty="0"/>
          </a:p>
          <a:p>
            <a:endParaRPr lang="en-US" dirty="0" smtClean="0"/>
          </a:p>
          <a:p>
            <a:endParaRPr lang="en-US" dirty="0"/>
          </a:p>
          <a:p>
            <a:endParaRPr lang="en-US" dirty="0" smtClean="0"/>
          </a:p>
          <a:p>
            <a:endParaRPr lang="en-US" dirty="0"/>
          </a:p>
          <a:p>
            <a:endParaRPr lang="en-US" dirty="0" smtClean="0"/>
          </a:p>
          <a:p>
            <a:endParaRPr lang="en-US" dirty="0"/>
          </a:p>
        </p:txBody>
      </p:sp>
      <p:pic>
        <p:nvPicPr>
          <p:cNvPr id="3" name="Picture 2"/>
          <p:cNvPicPr>
            <a:picLocks noChangeAspect="1"/>
          </p:cNvPicPr>
          <p:nvPr/>
        </p:nvPicPr>
        <p:blipFill>
          <a:blip r:embed="rId2"/>
          <a:stretch>
            <a:fillRect/>
          </a:stretch>
        </p:blipFill>
        <p:spPr>
          <a:xfrm>
            <a:off x="10341680" y="773994"/>
            <a:ext cx="742950" cy="952500"/>
          </a:xfrm>
          <a:prstGeom prst="rect">
            <a:avLst/>
          </a:prstGeom>
        </p:spPr>
      </p:pic>
      <p:pic>
        <p:nvPicPr>
          <p:cNvPr id="4" name="Picture 3"/>
          <p:cNvPicPr>
            <a:picLocks noChangeAspect="1"/>
          </p:cNvPicPr>
          <p:nvPr/>
        </p:nvPicPr>
        <p:blipFill>
          <a:blip r:embed="rId3"/>
          <a:stretch>
            <a:fillRect/>
          </a:stretch>
        </p:blipFill>
        <p:spPr>
          <a:xfrm>
            <a:off x="4651551" y="1952272"/>
            <a:ext cx="914400" cy="914400"/>
          </a:xfrm>
          <a:prstGeom prst="rect">
            <a:avLst/>
          </a:prstGeom>
        </p:spPr>
      </p:pic>
      <p:pic>
        <p:nvPicPr>
          <p:cNvPr id="5" name="Picture 4"/>
          <p:cNvPicPr>
            <a:picLocks noChangeAspect="1"/>
          </p:cNvPicPr>
          <p:nvPr/>
        </p:nvPicPr>
        <p:blipFill>
          <a:blip r:embed="rId4"/>
          <a:stretch>
            <a:fillRect/>
          </a:stretch>
        </p:blipFill>
        <p:spPr>
          <a:xfrm>
            <a:off x="6096000" y="1952272"/>
            <a:ext cx="941739" cy="883337"/>
          </a:xfrm>
          <a:prstGeom prst="rect">
            <a:avLst/>
          </a:prstGeom>
        </p:spPr>
      </p:pic>
    </p:spTree>
    <p:extLst>
      <p:ext uri="{BB962C8B-B14F-4D97-AF65-F5344CB8AC3E}">
        <p14:creationId xmlns:p14="http://schemas.microsoft.com/office/powerpoint/2010/main" val="18037244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Cases</a:t>
            </a:r>
            <a:endParaRPr lang="en-US" dirty="0"/>
          </a:p>
        </p:txBody>
      </p:sp>
      <p:sp>
        <p:nvSpPr>
          <p:cNvPr id="3" name="Text Placeholder 2"/>
          <p:cNvSpPr>
            <a:spLocks noGrp="1"/>
          </p:cNvSpPr>
          <p:nvPr>
            <p:ph type="body" idx="1"/>
          </p:nvPr>
        </p:nvSpPr>
        <p:spPr/>
        <p:txBody>
          <a:bodyPr/>
          <a:lstStyle/>
          <a:p>
            <a:r>
              <a:rPr lang="en-US" dirty="0"/>
              <a:t>Frank Van Den </a:t>
            </a:r>
            <a:r>
              <a:rPr lang="en-US" dirty="0" err="1" smtClean="0"/>
              <a:t>Bleeken</a:t>
            </a:r>
            <a:endParaRPr lang="en-US" dirty="0"/>
          </a:p>
        </p:txBody>
      </p:sp>
      <p:sp>
        <p:nvSpPr>
          <p:cNvPr id="4" name="Content Placeholder 3"/>
          <p:cNvSpPr>
            <a:spLocks noGrp="1"/>
          </p:cNvSpPr>
          <p:nvPr>
            <p:ph sz="half" idx="2"/>
          </p:nvPr>
        </p:nvSpPr>
        <p:spPr/>
        <p:txBody>
          <a:bodyPr>
            <a:normAutofit fontScale="40000" lnSpcReduction="20000"/>
          </a:bodyPr>
          <a:lstStyle/>
          <a:p>
            <a:r>
              <a:rPr lang="en-US" dirty="0"/>
              <a:t>Frank Van Den </a:t>
            </a:r>
            <a:r>
              <a:rPr lang="en-US" dirty="0" err="1"/>
              <a:t>Bleeken</a:t>
            </a:r>
            <a:r>
              <a:rPr lang="en-US" dirty="0"/>
              <a:t> was a Belgian convicted of serial murder and rape who has been imprisoned for almost three decades. He was temporarily released and convict other brutal convictions</a:t>
            </a:r>
            <a:r>
              <a:rPr lang="en-US" dirty="0" smtClean="0"/>
              <a:t>.</a:t>
            </a:r>
          </a:p>
          <a:p>
            <a:r>
              <a:rPr lang="en-US" dirty="0" smtClean="0"/>
              <a:t> </a:t>
            </a:r>
            <a:r>
              <a:rPr lang="en-US" dirty="0"/>
              <a:t>• He sought the right to die because he was "suffering unbearably" from his psychiatric condition </a:t>
            </a:r>
            <a:endParaRPr lang="en-US" dirty="0" smtClean="0"/>
          </a:p>
          <a:p>
            <a:r>
              <a:rPr lang="en-US" dirty="0" smtClean="0"/>
              <a:t>• </a:t>
            </a:r>
            <a:r>
              <a:rPr lang="en-US" dirty="0"/>
              <a:t>Unable to control his urges, the convict had no prospect of living in freedom</a:t>
            </a:r>
            <a:r>
              <a:rPr lang="en-US" dirty="0" smtClean="0"/>
              <a:t>.</a:t>
            </a:r>
          </a:p>
          <a:p>
            <a:r>
              <a:rPr lang="en-US" dirty="0" smtClean="0"/>
              <a:t> </a:t>
            </a:r>
            <a:r>
              <a:rPr lang="en-US" dirty="0"/>
              <a:t>• "He has clearly said that he didn't want to leave prison because he didn't want to risk creating further victims," he said. Seeing himself as a danger to society, he could "no longer live like that", his lawyer said</a:t>
            </a:r>
            <a:r>
              <a:rPr lang="en-US" dirty="0" smtClean="0"/>
              <a:t>.</a:t>
            </a:r>
          </a:p>
          <a:p>
            <a:r>
              <a:rPr lang="en-US" dirty="0" smtClean="0"/>
              <a:t> </a:t>
            </a:r>
            <a:r>
              <a:rPr lang="en-US" dirty="0"/>
              <a:t>• After doctors agreed that his psychological condition is incurable, Belgium's justice minister approved his transfer to a hospital where doctors will end his life on January 11, 2015</a:t>
            </a:r>
            <a:r>
              <a:rPr lang="en-US" dirty="0" smtClean="0"/>
              <a:t>.</a:t>
            </a:r>
          </a:p>
          <a:p>
            <a:r>
              <a:rPr lang="en-US" dirty="0" smtClean="0"/>
              <a:t> </a:t>
            </a:r>
            <a:r>
              <a:rPr lang="en-US" dirty="0"/>
              <a:t>• But on January 6, the justice minister announced that Van Den </a:t>
            </a:r>
            <a:r>
              <a:rPr lang="en-US" dirty="0" err="1"/>
              <a:t>Bleekin’s</a:t>
            </a:r>
            <a:r>
              <a:rPr lang="en-US" dirty="0"/>
              <a:t> “right to die” was withdrawn by his doctors. He was instead transferred to a psychiatric prison ward.</a:t>
            </a:r>
          </a:p>
        </p:txBody>
      </p:sp>
      <p:sp>
        <p:nvSpPr>
          <p:cNvPr id="5" name="Text Placeholder 4"/>
          <p:cNvSpPr>
            <a:spLocks noGrp="1"/>
          </p:cNvSpPr>
          <p:nvPr>
            <p:ph type="body" sz="quarter" idx="3"/>
          </p:nvPr>
        </p:nvSpPr>
        <p:spPr/>
        <p:txBody>
          <a:bodyPr/>
          <a:lstStyle/>
          <a:p>
            <a:r>
              <a:rPr lang="en-US" dirty="0" smtClean="0"/>
              <a:t>Craig </a:t>
            </a:r>
            <a:r>
              <a:rPr lang="en-US" dirty="0" err="1"/>
              <a:t>Ewert</a:t>
            </a:r>
            <a:endParaRPr lang="en-US" dirty="0"/>
          </a:p>
        </p:txBody>
      </p:sp>
      <p:sp>
        <p:nvSpPr>
          <p:cNvPr id="6" name="Content Placeholder 5"/>
          <p:cNvSpPr>
            <a:spLocks noGrp="1"/>
          </p:cNvSpPr>
          <p:nvPr>
            <p:ph sz="quarter" idx="4"/>
          </p:nvPr>
        </p:nvSpPr>
        <p:spPr/>
        <p:txBody>
          <a:bodyPr>
            <a:normAutofit fontScale="55000" lnSpcReduction="20000"/>
          </a:bodyPr>
          <a:lstStyle/>
          <a:p>
            <a:r>
              <a:rPr lang="en-US" dirty="0"/>
              <a:t>Craig </a:t>
            </a:r>
            <a:r>
              <a:rPr lang="en-US" dirty="0" err="1"/>
              <a:t>Ewert</a:t>
            </a:r>
            <a:r>
              <a:rPr lang="en-US" dirty="0"/>
              <a:t> 59, was a retired college professor who was diagnosed with motor neuron disease (MND), a neurodegenerative kind that affects the nervous system and could lead to difficulty in gripping, walking, swallowing, speaking and breathing. </a:t>
            </a:r>
            <a:endParaRPr lang="en-US" dirty="0" smtClean="0"/>
          </a:p>
          <a:p>
            <a:r>
              <a:rPr lang="en-US" dirty="0" smtClean="0"/>
              <a:t>• </a:t>
            </a:r>
            <a:r>
              <a:rPr lang="en-US" dirty="0"/>
              <a:t>He decided to end his life rather than spend the rest of his life in a “living tomb” ,Since euthanasia is still illegal in Britain, he traveled to Switzerland to die assisted by the </a:t>
            </a:r>
            <a:r>
              <a:rPr lang="en-US" dirty="0" err="1"/>
              <a:t>Diginitas</a:t>
            </a:r>
            <a:r>
              <a:rPr lang="en-US" dirty="0"/>
              <a:t> clinic in Zurich in September 2006. </a:t>
            </a:r>
            <a:endParaRPr lang="en-US" dirty="0" smtClean="0"/>
          </a:p>
          <a:p>
            <a:r>
              <a:rPr lang="en-US" dirty="0" smtClean="0"/>
              <a:t>• </a:t>
            </a:r>
            <a:r>
              <a:rPr lang="en-US" dirty="0"/>
              <a:t>He was already 5 months paralyzed prior to his televised death, his last moments was shown on the Sky Real Lives Channel live, he first said goodbye to his wife, drank the poison, asked for an apple juice, requested for Beethoven’s symphony no.9, said thank you, and died peacefully.</a:t>
            </a:r>
          </a:p>
        </p:txBody>
      </p:sp>
    </p:spTree>
    <p:extLst>
      <p:ext uri="{BB962C8B-B14F-4D97-AF65-F5344CB8AC3E}">
        <p14:creationId xmlns:p14="http://schemas.microsoft.com/office/powerpoint/2010/main" val="33664393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lstStyle/>
          <a:p>
            <a:r>
              <a:rPr lang="en-US" dirty="0"/>
              <a:t>I</a:t>
            </a:r>
            <a:r>
              <a:rPr lang="en-US" dirty="0" smtClean="0"/>
              <a:t>t </a:t>
            </a:r>
            <a:r>
              <a:rPr lang="en-US" dirty="0"/>
              <a:t>is acceptable, as long as one’s decision will not cause harm to the rights of </a:t>
            </a:r>
            <a:r>
              <a:rPr lang="en-US" dirty="0" smtClean="0"/>
              <a:t>others.</a:t>
            </a:r>
          </a:p>
          <a:p>
            <a:r>
              <a:rPr lang="en-US" dirty="0"/>
              <a:t>U</a:t>
            </a:r>
            <a:r>
              <a:rPr lang="en-US" dirty="0" smtClean="0"/>
              <a:t>niversality </a:t>
            </a:r>
            <a:r>
              <a:rPr lang="en-US" dirty="0"/>
              <a:t>of euthanasia will reduce the burden on healthcare </a:t>
            </a:r>
            <a:r>
              <a:rPr lang="en-US" dirty="0" smtClean="0"/>
              <a:t>resources.</a:t>
            </a:r>
          </a:p>
          <a:p>
            <a:r>
              <a:rPr lang="en-US" dirty="0"/>
              <a:t>The legalization of euthanasia and assisted suicide would prevent the suffering and trauma of patients through the last stages of their </a:t>
            </a:r>
            <a:r>
              <a:rPr lang="en-US" dirty="0" smtClean="0"/>
              <a:t>life</a:t>
            </a:r>
          </a:p>
          <a:p>
            <a:r>
              <a:rPr lang="en-US" dirty="0"/>
              <a:t>Constitutionally the right to autonomy is respected elsewhere; it should be respected medically as well.</a:t>
            </a:r>
            <a:endParaRPr lang="en-US" dirty="0"/>
          </a:p>
        </p:txBody>
      </p:sp>
    </p:spTree>
    <p:extLst>
      <p:ext uri="{BB962C8B-B14F-4D97-AF65-F5344CB8AC3E}">
        <p14:creationId xmlns:p14="http://schemas.microsoft.com/office/powerpoint/2010/main" val="1379118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632178"/>
            <a:ext cx="10668000" cy="8586966"/>
          </a:xfrm>
          <a:prstGeom prst="rect">
            <a:avLst/>
          </a:prstGeom>
        </p:spPr>
        <p:txBody>
          <a:bodyPr wrap="square">
            <a:spAutoFit/>
          </a:bodyPr>
          <a:lstStyle/>
          <a:p>
            <a:pPr algn="ctr"/>
            <a:endParaRPr lang="en-US" sz="9600" dirty="0" smtClean="0"/>
          </a:p>
          <a:p>
            <a:pPr algn="ctr"/>
            <a:r>
              <a:rPr lang="en-US" sz="9600" dirty="0" smtClean="0">
                <a:solidFill>
                  <a:srgbClr val="00B0F0"/>
                </a:solidFill>
              </a:rPr>
              <a:t>Thank You</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Tree>
    <p:extLst>
      <p:ext uri="{BB962C8B-B14F-4D97-AF65-F5344CB8AC3E}">
        <p14:creationId xmlns:p14="http://schemas.microsoft.com/office/powerpoint/2010/main" val="313063078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141</TotalTime>
  <Words>1045</Words>
  <Application>Microsoft Office PowerPoint</Application>
  <PresentationFormat>Widescreen</PresentationFormat>
  <Paragraphs>139</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Garamond</vt:lpstr>
      <vt:lpstr>Organic</vt:lpstr>
      <vt:lpstr>Noman Sharif(4390) BA Boot Camp Intern</vt:lpstr>
      <vt:lpstr>Outlines</vt:lpstr>
      <vt:lpstr>Euthanasia</vt:lpstr>
      <vt:lpstr>Types of Euthanasia </vt:lpstr>
      <vt:lpstr>History</vt:lpstr>
      <vt:lpstr>PowerPoint Presentation</vt:lpstr>
      <vt:lpstr>PowerPoint Presentation</vt:lpstr>
      <vt:lpstr>Laws</vt:lpstr>
      <vt:lpstr>PowerPoint Presentation</vt:lpstr>
      <vt:lpstr>Religion</vt:lpstr>
      <vt:lpstr>Religious views on Euthanasia:</vt:lpstr>
      <vt:lpstr>PowerPoint Presentation</vt:lpstr>
      <vt:lpstr>Cases</vt:lpstr>
      <vt:lpstr>Conclusion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Noman Sharif(4390) BA Boot Camp Intern</dc:title>
  <dc:creator>acer</dc:creator>
  <cp:lastModifiedBy>acer</cp:lastModifiedBy>
  <cp:revision>13</cp:revision>
  <dcterms:created xsi:type="dcterms:W3CDTF">2022-12-27T17:52:57Z</dcterms:created>
  <dcterms:modified xsi:type="dcterms:W3CDTF">2022-12-27T20:14:02Z</dcterms:modified>
</cp:coreProperties>
</file>